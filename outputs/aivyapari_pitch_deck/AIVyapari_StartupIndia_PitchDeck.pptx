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d8e10193684fcd" /><Relationship Type="http://schemas.openxmlformats.org/officeDocument/2006/relationships/extended-properties" Target="/docProps/app.xml" Id="R47d9d4c3d574472f" /><Relationship Type="http://schemas.openxmlformats.org/officeDocument/2006/relationships/officeDocument" Target="/ppt/presentation.xml" Id="Ref4d4b9903cb49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ade8663bb14fcd"/>
  </p:sldMasterIdLst>
  <p:notesMasterIdLst>
    <p:notesMasterId xmlns:r="http://schemas.openxmlformats.org/officeDocument/2006/relationships" r:id="R23bbae1d0f6942f0"/>
  </p:notesMasterIdLst>
  <p:sldIdLst>
    <p:sldId xmlns:r="http://schemas.openxmlformats.org/officeDocument/2006/relationships" id="256" r:id="R5497f0526d4d4b65"/>
    <p:sldId xmlns:r="http://schemas.openxmlformats.org/officeDocument/2006/relationships" id="257" r:id="Rceb00a28f1354e25"/>
    <p:sldId xmlns:r="http://schemas.openxmlformats.org/officeDocument/2006/relationships" id="258" r:id="R1c078e6e84484c81"/>
    <p:sldId xmlns:r="http://schemas.openxmlformats.org/officeDocument/2006/relationships" id="259" r:id="R0714fb510aeb40bc"/>
    <p:sldId xmlns:r="http://schemas.openxmlformats.org/officeDocument/2006/relationships" id="260" r:id="Re3b06aab55c14170"/>
    <p:sldId xmlns:r="http://schemas.openxmlformats.org/officeDocument/2006/relationships" id="261" r:id="Ra4f49eac3a1d4e38"/>
    <p:sldId xmlns:r="http://schemas.openxmlformats.org/officeDocument/2006/relationships" id="262" r:id="R77d03ac52f40498c"/>
    <p:sldId xmlns:r="http://schemas.openxmlformats.org/officeDocument/2006/relationships" id="263" r:id="R626105e9060e4c86"/>
    <p:sldId xmlns:r="http://schemas.openxmlformats.org/officeDocument/2006/relationships" id="264" r:id="R9a08f8b957964fce"/>
    <p:sldId xmlns:r="http://schemas.openxmlformats.org/officeDocument/2006/relationships" id="265" r:id="R3050776508064d5f"/>
    <p:sldId xmlns:r="http://schemas.openxmlformats.org/officeDocument/2006/relationships" id="266" r:id="R36732f016be6461c"/>
    <p:sldId xmlns:r="http://schemas.openxmlformats.org/officeDocument/2006/relationships" id="267" r:id="Rd0202da566ab4f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de8663bb14fcd" /><Relationship Type="http://schemas.openxmlformats.org/officeDocument/2006/relationships/theme" Target="/ppt/theme/theme1.xml" Id="R3d8fee15dde1430c" /><Relationship Type="http://schemas.openxmlformats.org/officeDocument/2006/relationships/notesMaster" Target="/ppt/notesMasters/notesMaster1.xml" Id="R23bbae1d0f6942f0" /><Relationship Type="http://schemas.openxmlformats.org/officeDocument/2006/relationships/presProps" Target="/ppt/presProps.xml" Id="Rd79252f5c85c44ee" /><Relationship Type="http://schemas.openxmlformats.org/officeDocument/2006/relationships/viewProps" Target="/ppt/viewProps.xml" Id="R90693f8fd43846a6" /><Relationship Type="http://schemas.openxmlformats.org/officeDocument/2006/relationships/tableStyles" Target="/ppt/tableStyles.xml" Id="R6625fb5d2bc34169" /><Relationship Type="http://schemas.openxmlformats.org/officeDocument/2006/relationships/slide" Target="/ppt/slides/slide1.xml" Id="R5497f0526d4d4b65" /><Relationship Type="http://schemas.openxmlformats.org/officeDocument/2006/relationships/slide" Target="/ppt/slides/slide2.xml" Id="Rceb00a28f1354e25" /><Relationship Type="http://schemas.openxmlformats.org/officeDocument/2006/relationships/slide" Target="/ppt/slides/slide3.xml" Id="R1c078e6e84484c81" /><Relationship Type="http://schemas.openxmlformats.org/officeDocument/2006/relationships/slide" Target="/ppt/slides/slide4.xml" Id="R0714fb510aeb40bc" /><Relationship Type="http://schemas.openxmlformats.org/officeDocument/2006/relationships/slide" Target="/ppt/slides/slide5.xml" Id="Re3b06aab55c14170" /><Relationship Type="http://schemas.openxmlformats.org/officeDocument/2006/relationships/slide" Target="/ppt/slides/slide6.xml" Id="Ra4f49eac3a1d4e38" /><Relationship Type="http://schemas.openxmlformats.org/officeDocument/2006/relationships/slide" Target="/ppt/slides/slide7.xml" Id="R77d03ac52f40498c" /><Relationship Type="http://schemas.openxmlformats.org/officeDocument/2006/relationships/slide" Target="/ppt/slides/slide8.xml" Id="R626105e9060e4c86" /><Relationship Type="http://schemas.openxmlformats.org/officeDocument/2006/relationships/slide" Target="/ppt/slides/slide9.xml" Id="R9a08f8b957964fce" /><Relationship Type="http://schemas.openxmlformats.org/officeDocument/2006/relationships/slide" Target="/ppt/slides/slide10.xml" Id="R3050776508064d5f" /><Relationship Type="http://schemas.openxmlformats.org/officeDocument/2006/relationships/slide" Target="/ppt/slides/slide11.xml" Id="R36732f016be6461c" /><Relationship Type="http://schemas.openxmlformats.org/officeDocument/2006/relationships/slide" Target="/ppt/slides/slide12.xml" Id="Rd0202da566ab4f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e7783013a54b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AIVyapari">
  <a:themeElements>
    <a:clrScheme name="AIVyapari">
      <a:accent1>
        <a:srgbClr val="007C78"/>
      </a:accent1>
      <a:accent2>
        <a:srgbClr val="F2A12B"/>
      </a:accent2>
      <a:accent3>
        <a:srgbClr val="2D8A57"/>
      </a:accent3>
      <a:accent4>
        <a:srgbClr val="E56B55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Vyapari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4c34a4e9bc40ee" /><Relationship Type="http://schemas.openxmlformats.org/officeDocument/2006/relationships/notesMaster" Target="/ppt/notesMasters/notesMaster1.xml" Id="R44f0a90a265641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7dd82a0a5740a5" /><Relationship Type="http://schemas.openxmlformats.org/officeDocument/2006/relationships/notesMaster" Target="/ppt/notesMasters/notesMaster1.xml" Id="Ref61dd3c931448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7f40695d7d44d3" /><Relationship Type="http://schemas.openxmlformats.org/officeDocument/2006/relationships/notesMaster" Target="/ppt/notesMasters/notesMaster1.xml" Id="Rfdef7080bcd04e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45b52d0bc43b7" /><Relationship Type="http://schemas.openxmlformats.org/officeDocument/2006/relationships/notesMaster" Target="/ppt/notesMasters/notesMaster1.xml" Id="R7ed76f3aee3a4f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20dfac2ed946a6" /><Relationship Type="http://schemas.openxmlformats.org/officeDocument/2006/relationships/notesMaster" Target="/ppt/notesMasters/notesMaster1.xml" Id="R8cd5f03be01b4a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d019d857e9436e" /><Relationship Type="http://schemas.openxmlformats.org/officeDocument/2006/relationships/notesMaster" Target="/ppt/notesMasters/notesMaster1.xml" Id="R8596c6d1258246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5a91bc5ae40ea" /><Relationship Type="http://schemas.openxmlformats.org/officeDocument/2006/relationships/notesMaster" Target="/ppt/notesMasters/notesMaster1.xml" Id="Rff332f029b4a4b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431619399841b0" /><Relationship Type="http://schemas.openxmlformats.org/officeDocument/2006/relationships/notesMaster" Target="/ppt/notesMasters/notesMaster1.xml" Id="R9a01a7f36c6f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355a1dcb654321" /><Relationship Type="http://schemas.openxmlformats.org/officeDocument/2006/relationships/notesMaster" Target="/ppt/notesMasters/notesMaster1.xml" Id="R4835b7c2e7dd41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944d72df0844c2" /><Relationship Type="http://schemas.openxmlformats.org/officeDocument/2006/relationships/notesMaster" Target="/ppt/notesMasters/notesMaster1.xml" Id="R2e918676fb564a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bea058f2304aee" /><Relationship Type="http://schemas.openxmlformats.org/officeDocument/2006/relationships/notesMaster" Target="/ppt/notesMasters/notesMaster1.xml" Id="Ra4e0fe2226a547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9d3aa172bb49ad" /><Relationship Type="http://schemas.openxmlformats.org/officeDocument/2006/relationships/notesMaster" Target="/ppt/notesMasters/notesMaster1.xml" Id="R15ae847eb0a7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1.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2.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3.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4.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5.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6.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7.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8.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9.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10.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11.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AIVyapari Startup India pitch deck slide 12. Replace bracketed placeholders with verified company data before investor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43f0db335493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3CCA0167-CF89-4C72-95D9-0486D97468B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F8CD170-C202-4AC8-B21A-177D0274011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9309FF-2CA1-4717-B40D-B87C1AFCBFC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3FA1D06-2193-4385-A427-1AB6A0F6FA6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acefeb0472456b" /><Relationship Type="http://schemas.openxmlformats.org/officeDocument/2006/relationships/slideLayout" Target="/ppt/slideLayouts/slideLayout2.xml" Id="R35f4d0b0f6ac41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4C68B3-5E37-479C-8162-A1922E36FEE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4d0b0f6ac41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78036db77406e" /><Relationship Type="http://schemas.openxmlformats.org/officeDocument/2006/relationships/image" Target="/ppt/media/image.png" Id="R19fd4cc8383c4074" /><Relationship Type="http://schemas.openxmlformats.org/officeDocument/2006/relationships/notesSlide" Target="/ppt/notesSlides/notesSlide1.xml" Id="R3381e1e947464d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b6cdfa5d9a4600" /><Relationship Type="http://schemas.openxmlformats.org/officeDocument/2006/relationships/notesSlide" Target="/ppt/notesSlides/notesSlide2.xml" Id="R35bd69f6271f43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3db72e184347a2" /><Relationship Type="http://schemas.openxmlformats.org/officeDocument/2006/relationships/notesSlide" Target="/ppt/notesSlides/notesSlide3.xml" Id="Re4af07339c8542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2960691ace4d8a" /><Relationship Type="http://schemas.openxmlformats.org/officeDocument/2006/relationships/notesSlide" Target="/ppt/notesSlides/notesSlide4.xml" Id="Rd7d748622772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c6b3799ef74f26" /><Relationship Type="http://schemas.openxmlformats.org/officeDocument/2006/relationships/notesSlide" Target="/ppt/notesSlides/notesSlide5.xml" Id="R489e11c078f145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813f1f27d4c34" /><Relationship Type="http://schemas.openxmlformats.org/officeDocument/2006/relationships/notesSlide" Target="/ppt/notesSlides/notesSlide6.xml" Id="Rbd20b5fe99e845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2b1d00bb14043" /><Relationship Type="http://schemas.openxmlformats.org/officeDocument/2006/relationships/notesSlide" Target="/ppt/notesSlides/notesSlide7.xml" Id="Rc710318ef8bf47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ac0dfbf7f24c80" /><Relationship Type="http://schemas.openxmlformats.org/officeDocument/2006/relationships/notesSlide" Target="/ppt/notesSlides/notesSlide8.xml" Id="Rd21efa0a07d546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969712821545b3" /><Relationship Type="http://schemas.openxmlformats.org/officeDocument/2006/relationships/notesSlide" Target="/ppt/notesSlides/notesSlide9.xml" Id="R29419e5b964e45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124f04e6174bb7" /><Relationship Type="http://schemas.openxmlformats.org/officeDocument/2006/relationships/notesSlide" Target="/ppt/notesSlides/notesSlide10.xml" Id="R05225fac31274d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c324b2c630443a" /><Relationship Type="http://schemas.openxmlformats.org/officeDocument/2006/relationships/notesSlide" Target="/ppt/notesSlides/notesSlide11.xml" Id="Rc6e4050cc67641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5dac78d144f89" /><Relationship Type="http://schemas.openxmlformats.org/officeDocument/2006/relationships/image" Target="/ppt/media/image2.png" Id="Rdebe16200e7841df" /><Relationship Type="http://schemas.openxmlformats.org/officeDocument/2006/relationships/notesSlide" Target="/ppt/notesSlides/notesSlide12.xml" Id="Reeff65f1844c4d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F4F83-4F54-4307-AE1C-B0A6CE7F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93396-EE51-4207-B18F-3A56E1AD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9BE1F-D191-4013-8EDE-BC9BC4C4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477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6A0">
              <a:alpha val="14902"/>
            </a:srgbClr>
          </a:solidFill>
          <a:ln xmlns:a="http://schemas.openxmlformats.org/drawingml/2006/main" w="0">
            <a:solidFill>
              <a:srgbClr val="0DA6A0">
                <a:alpha val="14902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E185D-71B2-4402-958E-1CF8915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12B">
              <a:alpha val="16863"/>
            </a:srgbClr>
          </a:solidFill>
          <a:ln xmlns:a="http://schemas.openxmlformats.org/drawingml/2006/main" w="0">
            <a:solidFill>
              <a:srgbClr val="F2A12B">
                <a:alpha val="16863"/>
              </a:srgbClr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d4cc8383c4074"/>
          <a:stretch xmlns:a="http://schemas.openxmlformats.org/drawingml/2006/main"/>
        </p:blipFill>
        <p:spPr>
          <a:xfrm xmlns:a="http://schemas.openxmlformats.org/drawingml/2006/main">
            <a:off x="704850" y="5905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E99D4-B46E-4015-9993-9F163168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667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A"/>
                </a:solidFill>
              </a:defRPr>
            </a:pPr>
            <a:r>
              <a:rPr sz="2400" b="1">
                <a:solidFill>
                  <a:srgbClr val="18212A"/>
                </a:solidFill>
              </a:rPr>
              <a:t>AIVyapari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1031C-9A8A-47A7-9962-B602A82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FF4F0"/>
          </a:solidFill>
          <a:ln xmlns:a="http://schemas.openxmlformats.org/drawingml/2006/main" w="0">
            <a:solidFill>
              <a:srgbClr val="DFF4F0"/>
            </a:solidFill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C78"/>
                </a:solidFill>
              </a:defRPr>
            </a:pPr>
            <a:r>
              <a:rPr sz="1050" b="1">
                <a:solidFill>
                  <a:srgbClr val="007C78"/>
                </a:solidFill>
              </a:rPr>
              <a:t>Startup India pitch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ED7C4-BD17-4306-A264-336FF260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38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303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212A"/>
                </a:solidFill>
              </a:defRPr>
            </a:pPr>
            <a:r>
              <a:rPr sz="3600" b="1">
                <a:solidFill>
                  <a:srgbClr val="18212A"/>
                </a:solidFill>
              </a:rPr>
              <a:t>One adaptive workspace for running Indian businesses with clarity.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14062-81B3-4444-9E78-B07337AC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609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872"/>
                </a:solidFill>
              </a:defRPr>
            </a:pPr>
            <a:r>
              <a:rPr sz="1500" b="0">
                <a:solidFill>
                  <a:srgbClr val="5C6872"/>
                </a:solidFill>
              </a:rPr>
              <a:t>CRM, billing, inventory, teams, operations, reporting, and optional AI tools in one branded workspace for owners and teams.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82E74-9B3A-4EBE-BFEF-CBB6E638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428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2"/>
                </a:solidFill>
              </a:defRPr>
            </a:pPr>
            <a:r>
              <a:rPr sz="1200" b="0">
                <a:solidFill>
                  <a:srgbClr val="5C6872"/>
                </a:solidFill>
              </a:rPr>
              <a:t>URL: aivyapari.com</a:t>
            </a:r>
          </a:p>
          <a:p xmlns:a="http://schemas.openxmlformats.org/drawingml/2006/main">
            <a:pPr algn="l">
              <a:defRPr sz="1200" b="0">
                <a:solidFill>
                  <a:srgbClr val="5C6872"/>
                </a:solidFill>
              </a:defRPr>
            </a:pPr>
            <a:r>
              <a:rPr sz="1200" b="0">
                <a:solidFill>
                  <a:srgbClr val="5C6872"/>
                </a:solidFill>
              </a:rPr>
              <a:t>City: [Add city]</a:t>
            </a:r>
          </a:p>
          <a:p xmlns:a="http://schemas.openxmlformats.org/drawingml/2006/main">
            <a:pPr algn="l">
              <a:defRPr sz="1200" b="0">
                <a:solidFill>
                  <a:srgbClr val="5C6872"/>
                </a:solidFill>
              </a:defRPr>
            </a:pPr>
            <a:r>
              <a:rPr sz="1200" b="0">
                <a:solidFill>
                  <a:srgbClr val="5C6872"/>
                </a:solidFill>
              </a:rPr>
              <a:t>Email: [Add email]</a:t>
            </a:r>
          </a:p>
          <a:p xmlns:a="http://schemas.openxmlformats.org/drawingml/2006/main">
            <a:pPr algn="l">
              <a:defRPr sz="1200" b="0">
                <a:solidFill>
                  <a:srgbClr val="5C6872"/>
                </a:solidFill>
              </a:defRPr>
            </a:pPr>
            <a:r>
              <a:rPr sz="1200" b="0">
                <a:solidFill>
                  <a:srgbClr val="5C6872"/>
                </a:solidFill>
              </a:rPr>
              <a:t>Mobile: [Add mobile]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3EABE-3F65-4491-8A9F-BDF7F1F8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2588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CBB9A-05EF-4E2A-8AAE-3102C048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050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Owner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EA73E-631F-4711-BB4D-C2FB58A2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35800-1D13-4D22-BCE0-1CEB9A2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A12B"/>
                </a:solidFill>
              </a:defRPr>
            </a:pPr>
            <a:r>
              <a:rPr sz="1650" b="1">
                <a:solidFill>
                  <a:srgbClr val="F2A12B"/>
                </a:solidFill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05B4E-4777-42B2-BA44-B315CF84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479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Pending follow-ups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C7DAD-8AA6-43DB-A041-D78C9C6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6D8B0-6A6E-467D-A4E0-7C14C33A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A12B"/>
                </a:solidFill>
              </a:defRPr>
            </a:pPr>
            <a:r>
              <a:rPr sz="1650" b="1">
                <a:solidFill>
                  <a:srgbClr val="F2A12B"/>
                </a:solidFill>
              </a:rPr>
              <a:t>₹2.4L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EFE67-A0D3-4B2E-A355-6F3851EA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90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Payments due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95270-894F-4A3B-AA17-F07E797E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6240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7111F-9242-427F-BCE2-44E341C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767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A12B"/>
                </a:solidFill>
              </a:defRPr>
            </a:pPr>
            <a:r>
              <a:rPr sz="1650" b="1">
                <a:solidFill>
                  <a:srgbClr val="F2A12B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E7A5B-1A97-4069-9DA1-7DAFE311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38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Stock watch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FF0A6-B693-4C6C-957D-858CD495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>
                    <a:alpha val="73333"/>
                  </a:srgbClr>
                </a:solidFill>
              </a:defRPr>
            </a:pPr>
            <a:r>
              <a:rPr sz="1050" b="0">
                <a:solidFill>
                  <a:srgbClr val="FFFFFF">
                    <a:alpha val="73333"/>
                  </a:srgbClr>
                </a:solidFill>
              </a:rPr>
              <a:t>Investor deck | May 2026</a:t>
            </a:r>
          </a:p>
        </p:txBody>
      </p:sp>
    </p:spTree>
    <p:extLst>
      <p:ext uri="{BB962C8B-B14F-4D97-AF65-F5344CB8AC3E}">
        <p14:creationId xmlns:p14="http://schemas.microsoft.com/office/powerpoint/2010/main" val="451050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B0D7B-F8DF-43BA-9BC1-3D4E6B58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02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17344-D2B7-4D93-BE98-F18AA2AA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Founder-led operating system for SME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80F63-4731-4687-981A-8C14ED10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Replace the placeholders below with founder names, roles, and current or planned equity.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5585C-447C-4EB8-ADC2-2D305C74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76282-5AE9-4870-819B-339B8B3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AA845-16A4-45FF-8207-1D6BE4F7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21089-A006-44B4-A788-1336415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Founder / CEO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D5FA1-7105-4409-98F4-DCFFE45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55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Owns vision, customer discovery, partnerships, fundraising</a:t>
            </a:r>
          </a:p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[Name] | [Equity %]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63C23-33BC-4430-8E5F-79A69B05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FFF26-6719-45C2-9DC0-D6960208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2464C-9E5F-4E7D-ABA9-97B54AB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Product &amp;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E5ECA-CEAA-4AD0-B92B-D95CDEB0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455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Builds dashboard, auth, Firebase sync, adaptive modules</a:t>
            </a:r>
          </a:p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[Name] | [Equity %]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DB70B-DB35-4DDF-A1C1-584C5489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460B5-47A7-406C-BBBC-BAD03A1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6F945-3994-4019-A589-984B3FAD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Sales &amp; Customer Success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51034-7420-49F2-8C64-A4472DE7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455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Converts early businesses, onboarding, training support</a:t>
            </a:r>
          </a:p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[Name] | [Equity %]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A1E20-FF85-4F5F-A168-C3B7A086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8145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33C7D-EB26-4A1E-8969-0C53B8EE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814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5"/>
          </a:solidFill>
          <a:ln xmlns:a="http://schemas.openxmlformats.org/drawingml/2006/main" w="0">
            <a:solidFill>
              <a:srgbClr val="E56B5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96340-E42F-4E06-B91F-5D00BC5E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Operations / Domain Expert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353EE-32E1-4D61-BB47-C2E09FC6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455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301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Maps local business workflows into usable product defaults</a:t>
            </a:r>
          </a:p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[Name] | [Equity %]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D2034-E08F-456A-A530-A84431A7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2"/>
                </a:solidFill>
              </a:defRPr>
            </a:pPr>
            <a:r>
              <a:rPr sz="1050" b="0">
                <a:solidFill>
                  <a:srgbClr val="5C6872"/>
                </a:solidFill>
              </a:rPr>
              <a:t>Guideline fit: state what each person does, why they are suited, whether co-founder/founding member/employee, and their equity.</a:t>
            </a:r>
          </a:p>
        </p:txBody>
      </p:sp>
    </p:spTree>
    <p:extLst>
      <p:ext uri="{BB962C8B-B14F-4D97-AF65-F5344CB8AC3E}">
        <p14:creationId xmlns:p14="http://schemas.microsoft.com/office/powerpoint/2010/main" val="2000000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6A5DA-17B1-4AB4-B76C-67E968F8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03 PAIN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C31D6-F5F6-4D1A-A41D-6CA1E815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Growing businesses run on scattered tools and delayed visibility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DEE8-E695-4F35-B447-01A742D9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The owner pays the cost in missed follow-ups, unclear cash position, poor stock control, and team confusion.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F13B1-76C5-4556-A8A2-D3DDCA7A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6B4B5-191F-4654-98FE-D72394B0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381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012F9-7AD9-421C-8F0D-EBA76195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5"/>
          </a:solidFill>
          <a:ln xmlns:a="http://schemas.openxmlformats.org/drawingml/2006/main" w="0">
            <a:solidFill>
              <a:srgbClr val="E56B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118E8-3867-4D14-B961-30620F3B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Manual follow-ups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6B7B4-0315-4440-A4C4-BFE0B65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981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Leads, repeat customers, and pending approvals live across notebooks, WhatsApp, and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F6DDF-E5C4-4B4E-85E5-D9D1E18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2381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5B683-9780-46B3-BFD0-7DAD0BA1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FD2D0-C375-40E5-A931-B7B76CAD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194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Billing blind spots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F32C3-16C1-4AC7-8C39-26387A87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1981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Invoices, dues, collections, vendor payouts, and operating expenses are hard to see together.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4E674-987F-46DB-B7CE-9828190F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381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78C8A-7621-4320-9E52-1BD85CDE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302AD-EA04-40B5-96D6-E9C8315A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Inventory pressure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14710-59BD-42BD-99E7-5F9D209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981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Owners learn about low stock too late, especially across sizes, suppliers, branches, or projects.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A81BD-FFD1-4D27-B901-98F42A4A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2381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63D84-E327-450E-BAA6-B8415E74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1B22A-56C9-4B5C-A05F-BD1B95D6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Generic 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FF416-AE98-40A0-AFF7-1EA0C177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1981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Most systems force every business into the same labels and workflows, which slows adoption.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6236D-8B7D-492B-9F70-0A0FD1BF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868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14AE3-3916-4B10-B9CB-5ADD534D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62600"/>
            <a:ext cx="809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32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Why customers need this now: they want the control of software without the fatigue of another dashboard to ignore.</a:t>
            </a:r>
          </a:p>
        </p:txBody>
      </p:sp>
    </p:spTree>
    <p:extLst>
      <p:ext uri="{BB962C8B-B14F-4D97-AF65-F5344CB8AC3E}">
        <p14:creationId xmlns:p14="http://schemas.microsoft.com/office/powerpoint/2010/main" val="1679643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2FB61-B485-47D6-95B1-A54D8DB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04 PRODUCT /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BBD01-BDA4-47C9-AA68-70F8BC07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A branded operating layer that adapts by business 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4EFB7-CCEA-4BD4-BCEC-8CC9AA3C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Core workflows stay practical. AI is layered where it saves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D8416-9850-4AF2-867E-F430A57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A6458-0D91-402E-9EE5-70238CF7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32766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AIVyapari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72AA9-EAA3-42C2-B2D1-82E70C56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FEF8A-E72E-4E68-8CB3-78A13334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404BD-5F87-4AEC-B6D9-2A7A3FE4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CRM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6146F-F700-4432-9468-F8A024F3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99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567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Leads, notes, ownership,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71D50-6404-4C0B-84A5-4288EB92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BAB0E-A2A7-499C-BAD3-FB6A268E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551FD-80BE-4F46-A0E1-9934AD15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8625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Billing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69079-49C9-4739-BDD9-D0B6C31D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053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567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Quotes, invoices, dues, finance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F4B5C-F224-4B0E-A52D-2B90869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96041-9606-461D-AF25-C3D07F93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7A7B8-18E3-4D80-B8C6-A371B239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908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7E905-22C3-4CB7-BE50-17922F04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567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Stock, reorder watch, suppliers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106B3-5C10-4372-BBAF-5D01859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7670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C6920-4D37-44AD-A0DE-099C0DD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767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5"/>
          </a:solidFill>
          <a:ln xmlns:a="http://schemas.openxmlformats.org/drawingml/2006/main" w="0">
            <a:solidFill>
              <a:srgbClr val="E56B5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FAAB80-0C2E-45A7-95A3-890DAC1D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Teams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6CC50-36AA-4325-9B16-71870C6B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567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Roles, access, workload clarity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628DF-D4C8-4AD1-A5F5-56B39508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A24A1-2FA9-411F-B465-431F381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0"/>
          </a:solidFill>
          <a:ln xmlns:a="http://schemas.openxmlformats.org/drawingml/2006/main" w="0">
            <a:solidFill>
              <a:srgbClr val="0DA6A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8E032-2126-452A-8592-EF5B14F9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673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Operations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4BE88-1E81-4925-A52A-2C79807B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864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567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Tasks, calendar, issue raising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920C6B-CD3F-45DA-A04C-C56D7D4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9822B-1FC2-4B6D-861C-52035A8A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81B08A-9EA3-4EEE-8260-0376DCBC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145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AI layer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AE911D-3F5B-452D-8FED-317C04CF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171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5678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Follow-ups, summaries, forecasts, 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EAF3F-8758-4EFF-8055-3D485F4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150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872"/>
                </a:solidFill>
              </a:defRPr>
            </a:pPr>
            <a:r>
              <a:rPr sz="1125" b="0">
                <a:solidFill>
                  <a:srgbClr val="5C6872"/>
                </a:solidFill>
              </a:rPr>
              <a:t>Uniqueness: not a one-size dashboard; labels, stages, and suggestions adapt for retail, interiors, trading, services, and more.</a:t>
            </a:r>
          </a:p>
        </p:txBody>
      </p:sp>
    </p:spTree>
    <p:extLst>
      <p:ext uri="{BB962C8B-B14F-4D97-AF65-F5344CB8AC3E}">
        <p14:creationId xmlns:p14="http://schemas.microsoft.com/office/powerpoint/2010/main" val="10287688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19664-E527-45BD-9460-4E8DC1EB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05 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A75B8-5C98-4B9A-91B4-4CF45CC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Simple subscription, optional AI credits, onboarding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98D3A-0052-4825-AB5F-39056E4D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Revenue is designed around who pays, how much, and for what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F9930-C7AC-4CDA-B723-81CF9AC5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2476500"/>
          <a:ext xmlns:a="http://schemas.openxmlformats.org/drawingml/2006/main" cx="7429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1857375"/>
                <a:gridCol w="1857375"/>
                <a:gridCol w="1857375"/>
              </a:tblGrid>
              <a:tr h="552450">
                <a:tc>
                  <a:txBody>
                    <a:bodyPr/>
                    <a:lstStyle/>
                    <a:p>
                      <a:r>
                        <a:rPr/>
                        <a:t>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Buyer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What they pay for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Revenue logic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/>
                        <a:t>Vyapar Starter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Owner-led businesses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Focused starting setup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Monthly per-account subscription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/>
                        <a:t>Vyapar Growth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Growing teams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3 more core tools + team members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Higher plan ARPA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/>
                        <a:t>Vyapar Premium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Established operations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Full workspace + priority support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Scale plan + support value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/>
                        <a:t>AI credits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Any plan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Generation, assistants, forecasts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Pay-as-needed usage revenue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12CBD-445B-4746-9249-2169FA3C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2247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9D3A4-3FE9-490F-8C2F-DA8C0F65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860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7C78"/>
                </a:solidFill>
              </a:defRPr>
            </a:pPr>
            <a:r>
              <a:rPr sz="2250" b="1">
                <a:solidFill>
                  <a:srgbClr val="007C78"/>
                </a:solidFill>
              </a:rPr>
              <a:t>1 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3E738-D77F-4FFF-8A57-7ACD48C0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A"/>
                </a:solidFill>
              </a:defRPr>
            </a:pPr>
            <a:r>
              <a:rPr sz="1200" b="1">
                <a:solidFill>
                  <a:srgbClr val="18212A"/>
                </a:solidFill>
              </a:rPr>
              <a:t>Trial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605E3-6209-415D-8D99-DC36B0C1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372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872"/>
                </a:solidFill>
              </a:defRPr>
            </a:pPr>
            <a:r>
              <a:rPr sz="938" b="0">
                <a:solidFill>
                  <a:srgbClr val="5C6872"/>
                </a:solidFill>
              </a:rPr>
              <a:t>Free trial and training support in repo pricing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745C0-AE0F-4841-B8F0-226D6EB9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2247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47E5D-4CE5-41DB-93D1-2744B5FE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12B"/>
                </a:solidFill>
              </a:defRPr>
            </a:pPr>
            <a:r>
              <a:rPr sz="2250" b="1">
                <a:solidFill>
                  <a:srgbClr val="F2A12B"/>
                </a:solidFill>
              </a:rPr>
              <a:t>TBD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B6C2F-81F7-4D57-A583-5A4733B7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A"/>
                </a:solidFill>
              </a:defRPr>
            </a:pPr>
            <a:r>
              <a:rPr sz="1200" b="1">
                <a:solidFill>
                  <a:srgbClr val="18212A"/>
                </a:solidFill>
              </a:rPr>
              <a:t>Pricing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ACE55-C193-4B4E-8D0D-6CBEDF06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372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872"/>
                </a:solidFill>
              </a:defRPr>
            </a:pPr>
            <a:r>
              <a:rPr sz="938" b="0">
                <a:solidFill>
                  <a:srgbClr val="5C6872"/>
                </a:solidFill>
              </a:rPr>
              <a:t>Plan prices are masked in source and should be finalized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3D866-B444-470F-AE35-95A8ABA7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00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A"/>
                </a:solidFill>
              </a:defRPr>
            </a:pPr>
            <a:r>
              <a:rPr sz="1350" b="1">
                <a:solidFill>
                  <a:srgbClr val="18212A"/>
                </a:solidFill>
              </a:rPr>
              <a:t>Early monetization path: convert trial accounts into monthly subscriptions, expand modules as usage grows, and add AI credits only when customers see ROI.</a:t>
            </a:r>
          </a:p>
        </p:txBody>
      </p:sp>
    </p:spTree>
    <p:extLst>
      <p:ext uri="{BB962C8B-B14F-4D97-AF65-F5344CB8AC3E}">
        <p14:creationId xmlns:p14="http://schemas.microsoft.com/office/powerpoint/2010/main" val="776387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F2783-6CB3-4EDE-A56A-AEAE9EF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06 MARKET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8E5D1-4730-4B48-AA1E-1A9ED8E5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Focused on Indian businesses that need digitization without complexity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7402B-C86D-457C-B4BB-C603C60E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Use this model to plug in your actual geography, target verticals, pricing, and expected penetration.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FD400-347A-4968-93C1-91DAB4DF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2495550"/>
          <a:ext xmlns:a="http://schemas.openxmlformats.org/drawingml/2006/main" cx="836295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2590"/>
                <a:gridCol w="1672590"/>
                <a:gridCol w="1672590"/>
                <a:gridCol w="1672590"/>
                <a:gridCol w="1672590"/>
              </a:tblGrid>
              <a:tr h="542925">
                <a:tc>
                  <a:txBody>
                    <a:bodyPr/>
                    <a:lstStyle/>
                    <a:p>
                      <a:r>
                        <a:rPr/>
                        <a:t>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Definition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Customer 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Price / year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Potential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/>
                        <a:t>TAM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Indian MSME / SME businesses needing operations software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[Insert source count]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[₹ / account]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[₹]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/>
                        <a:t>SAM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Retail, trading, interiors, and local service firms in target states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[Insert count]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[₹ / account]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[₹]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/>
                        <a:t>SOM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Reachable customers over first 36 months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[Insert count]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[₹ / account]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[₹]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53D0A-4B04-42CC-AE37-CFDB878C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943100" cy="23050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DFF4F0"/>
          </a:solidFill>
          <a:ln xmlns:a="http://schemas.openxmlformats.org/drawingml/2006/main" w="0">
            <a:solidFill>
              <a:srgbClr val="DFF4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5AFE4-01FD-4369-927F-F88EA42B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67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C78"/>
                </a:solidFill>
              </a:defRPr>
            </a:pPr>
            <a:r>
              <a:rPr sz="1500" b="1">
                <a:solidFill>
                  <a:srgbClr val="007C78"/>
                </a:solidFill>
              </a:rPr>
              <a:t>First wedge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308F0-4A42-4B9C-B657-6F9D3765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80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A"/>
                </a:solidFill>
              </a:defRPr>
            </a:pPr>
            <a:r>
              <a:rPr sz="1350" b="0">
                <a:solidFill>
                  <a:srgbClr val="18212A"/>
                </a:solidFill>
              </a:rPr>
              <a:t>Retail shops</a:t>
            </a:r>
          </a:p>
          <a:p xmlns:a="http://schemas.openxmlformats.org/drawingml/2006/main">
            <a:pPr algn="l">
              <a:defRPr sz="1350" b="0">
                <a:solidFill>
                  <a:srgbClr val="18212A"/>
                </a:solidFill>
              </a:defRPr>
            </a:pPr>
            <a:r>
              <a:rPr sz="1350" b="0">
                <a:solidFill>
                  <a:srgbClr val="18212A"/>
                </a:solidFill>
              </a:rPr>
              <a:t>Interior businesses</a:t>
            </a:r>
          </a:p>
          <a:p xmlns:a="http://schemas.openxmlformats.org/drawingml/2006/main">
            <a:pPr algn="l">
              <a:defRPr sz="1350" b="0">
                <a:solidFill>
                  <a:srgbClr val="18212A"/>
                </a:solidFill>
              </a:defRPr>
            </a:pPr>
            <a:r>
              <a:rPr sz="1350" b="0">
                <a:solidFill>
                  <a:srgbClr val="18212A"/>
                </a:solidFill>
              </a:rPr>
              <a:t>Trading and wholesale</a:t>
            </a:r>
          </a:p>
          <a:p xmlns:a="http://schemas.openxmlformats.org/drawingml/2006/main">
            <a:pPr algn="l">
              <a:defRPr sz="1350" b="0">
                <a:solidFill>
                  <a:srgbClr val="18212A"/>
                </a:solidFill>
              </a:defRPr>
            </a:pPr>
            <a:r>
              <a:rPr sz="1350" b="0">
                <a:solidFill>
                  <a:srgbClr val="18212A"/>
                </a:solidFill>
              </a:rPr>
              <a:t>Service companies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A8CF9-EE54-4C58-9C56-5604C4D1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872"/>
                </a:solidFill>
              </a:defRPr>
            </a:pPr>
            <a:r>
              <a:rPr sz="1200" b="0">
                <a:solidFill>
                  <a:srgbClr val="5C6872"/>
                </a:solidFill>
              </a:rPr>
              <a:t>Investor note: Startup India asks for customer count x price x market potential. Keep this slide numeric once your target market source is finalized.</a:t>
            </a:r>
          </a:p>
        </p:txBody>
      </p:sp>
    </p:spTree>
    <p:extLst>
      <p:ext uri="{BB962C8B-B14F-4D97-AF65-F5344CB8AC3E}">
        <p14:creationId xmlns:p14="http://schemas.microsoft.com/office/powerpoint/2010/main" val="46556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FB4FD-833D-4B61-A835-2D1CD94A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07 CURRENT 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D5BD9-AFBA-4EFB-BB94-4ED7D8F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Product foundation is built; customer proof should be added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55AF2-0DD6-4479-AD1D-BC1ABCCF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This slide separates verified product progress from founder-supplied traction still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941E4-AD00-42C1-AA11-922B1B2B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6D8BC-B7BC-4680-9EEA-B2BF008A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A2711-0456-4EC1-86DF-F90FFA66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771B5-4FDC-42E3-8F41-3B2C0532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96445-4543-4129-9495-F5D35748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2ED55-FB01-4D13-8ADC-9B8459D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AC8F1-76F2-463A-B3AF-6D429CEB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Built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88860-9AC5-4DA7-B050-ECBE0EE4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742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Homepage, auth, dashboard shell, adaptive 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08A7C-7160-4BD6-8052-E3FFEAE5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5494C-08CD-43DD-BE99-DAC8C270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432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A66C2-E466-4B3A-8F0E-D8D6476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019EB-D53B-4E25-997C-2CD2499D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031C5-CEBB-44F0-8624-F8C2C157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3D08E-917A-42A6-8864-04BBBBB4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29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Core modules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7D212-CE82-4D66-9E8E-C224F573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CRM, billing, inventory, team, operations, AI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4755A-BF06-4AD4-84F7-D921CD65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84ECD-9577-4804-80B4-7EE0A4E1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432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43019-596E-42EC-AC3D-69FEF8D2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92119-20DF-43D4-970C-759635B6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02A7C4-7660-4A8A-BA29-FECFFAC2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1FE02-4DE7-4069-95F3-8547E7FE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Commercial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039C3-43D8-4B0A-8904-A301DCA5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Trial, pricing plans, support promise drafted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1A00E-43F7-4FC5-9B28-30F42CA8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57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55"/>
          </a:solidFill>
          <a:ln xmlns:a="http://schemas.openxmlformats.org/drawingml/2006/main" w="0">
            <a:solidFill>
              <a:srgbClr val="E56B5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D1B5D-1477-4695-8F39-FF1A250B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432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7AF60D-C603-4C10-BE9B-EAE2659C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670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5A5C5A-C878-4132-B917-B22C4735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247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F1E377-DBA5-4AE6-B217-BB023663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5"/>
          </a:solidFill>
          <a:ln xmlns:a="http://schemas.openxmlformats.org/drawingml/2006/main" w="0">
            <a:solidFill>
              <a:srgbClr val="E56B5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8A037F-A821-461D-8857-EA87E92C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Next 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E9D2D9-822B-4BC3-9654-820A013C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481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Add pilots, users, revenue, retention, testimonials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003847-9EE6-499C-AF40-6D2888D5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</a:defRPr>
            </a:pPr>
            <a:r>
              <a:rPr sz="1275" b="1">
                <a:solidFill>
                  <a:srgbClr val="18212A"/>
                </a:solidFill>
              </a:rPr>
              <a:t>Add when available: active accounts, pilots, paid customers, MRR, churn, customer logos, product screenshots, event photos, and founder/customer quotes.</a:t>
            </a:r>
          </a:p>
        </p:txBody>
      </p:sp>
    </p:spTree>
    <p:extLst>
      <p:ext uri="{BB962C8B-B14F-4D97-AF65-F5344CB8AC3E}">
        <p14:creationId xmlns:p14="http://schemas.microsoft.com/office/powerpoint/2010/main" val="150877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B756F-964C-4715-91B0-705BFC7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08 COMPETITIVE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68FB7-880B-4ABC-9974-301371D1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AIVyapari wins by fitting the owner workflow, not by adding more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AFFBE-33B8-487D-A323-194B8B8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The plan is to be easier to adopt than generic enterprise tools and more complete than spreadsheets or point solutions.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56AFD-43A6-4861-9E0F-73E26E2E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04850" y="2495550"/>
          <a:ext xmlns:a="http://schemas.openxmlformats.org/drawingml/2006/main" cx="809625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8750"/>
                <a:gridCol w="2698750"/>
                <a:gridCol w="2698750"/>
              </a:tblGrid>
              <a:tr h="579120">
                <a:tc>
                  <a:txBody>
                    <a:bodyPr/>
                    <a:lstStyle/>
                    <a:p>
                      <a:r>
                        <a:rPr/>
                        <a:t>Alternative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Where it helps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Where AIVyapari can win</a:t>
                      </a:r>
                    </a:p>
                  </a:txBody>
                  <a:tcPr marL="91440" marR="91440" marT="45720" marB="45720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/>
                        <a:t>Spreadsheets + WhatsApp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Familiar, low cost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Less manual chasing, better visibility, team accountability</a:t>
                      </a:r>
                    </a:p>
                  </a:txBody>
                  <a:tcPr marL="91440" marR="91440" marT="45720" marB="45720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/>
                        <a:t>Accounting / billing tools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Invoices and compliance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Adds CRM, stock, operations, and AI layer around billing</a:t>
                      </a:r>
                    </a:p>
                  </a:txBody>
                  <a:tcPr marL="91440" marR="91440" marT="45720" marB="45720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/>
                        <a:t>Generic CRM / ERP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Structured workflows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Business-specific labels, simpler onboarding, local owner focus</a:t>
                      </a:r>
                    </a:p>
                  </a:txBody>
                  <a:tcPr marL="91440" marR="91440" marT="45720" marB="45720"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/>
                        <a:t>Vertical SaaS tools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Deep in one niche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Flexible core that can adapt across multiple local business types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C5A9B-8538-497B-A26C-418E6DE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000250" cy="2190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E09D1-1419-435F-AF35-52A63E3F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908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Plan to 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E5315-05C0-4693-B1C1-336F54A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671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8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84706"/>
                  </a:srgbClr>
                </a:solidFill>
              </a:defRPr>
            </a:pPr>
            <a:r>
              <a:rPr sz="1200" b="0">
                <a:solidFill>
                  <a:srgbClr val="FFFFFF">
                    <a:alpha val="84706"/>
                  </a:srgbClr>
                </a:solidFill>
              </a:rPr>
              <a:t>Start with owner pain.</a:t>
            </a:r>
          </a:p>
          <a:p xmlns:a="http://schemas.openxmlformats.org/drawingml/2006/main">
            <a:pPr algn="l">
              <a:defRPr sz="1200" b="0">
                <a:solidFill>
                  <a:srgbClr val="FFFFFF">
                    <a:alpha val="84706"/>
                  </a:srgbClr>
                </a:solidFill>
              </a:defRPr>
            </a:pPr>
            <a:r>
              <a:rPr sz="1200" b="0">
                <a:solidFill>
                  <a:srgbClr val="FFFFFF">
                    <a:alpha val="84706"/>
                  </a:srgbClr>
                </a:solidFill>
              </a:rPr>
              <a:t>Keep setup simple.</a:t>
            </a:r>
          </a:p>
          <a:p xmlns:a="http://schemas.openxmlformats.org/drawingml/2006/main">
            <a:pPr algn="l">
              <a:defRPr sz="1200" b="0">
                <a:solidFill>
                  <a:srgbClr val="FFFFFF">
                    <a:alpha val="84706"/>
                  </a:srgbClr>
                </a:solidFill>
              </a:defRPr>
            </a:pPr>
            <a:r>
              <a:rPr sz="1200" b="0">
                <a:solidFill>
                  <a:srgbClr val="FFFFFF">
                    <a:alpha val="84706"/>
                  </a:srgbClr>
                </a:solidFill>
              </a:rPr>
              <a:t>Adapt labels by industry.</a:t>
            </a:r>
          </a:p>
          <a:p xmlns:a="http://schemas.openxmlformats.org/drawingml/2006/main">
            <a:pPr algn="l">
              <a:defRPr sz="1200" b="0">
                <a:solidFill>
                  <a:srgbClr val="FFFFFF">
                    <a:alpha val="84706"/>
                  </a:srgbClr>
                </a:solidFill>
              </a:defRPr>
            </a:pPr>
            <a:r>
              <a:rPr sz="1200" b="0">
                <a:solidFill>
                  <a:srgbClr val="FFFFFF">
                    <a:alpha val="84706"/>
                  </a:srgbClr>
                </a:solidFill>
              </a:rPr>
              <a:t>Make AI optional and useful.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DFA13-1084-42B3-97C5-8B6022CC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872"/>
                </a:solidFill>
              </a:defRPr>
            </a:pPr>
            <a:r>
              <a:rPr sz="1050" b="0">
                <a:solidFill>
                  <a:srgbClr val="5C6872"/>
                </a:solidFill>
              </a:rPr>
              <a:t>Avoid an inflated comparison matrix. Investors will take the positioning more seriously when it states trade-offs clearly.</a:t>
            </a:r>
          </a:p>
        </p:txBody>
      </p:sp>
    </p:spTree>
    <p:extLst>
      <p:ext uri="{BB962C8B-B14F-4D97-AF65-F5344CB8AC3E}">
        <p14:creationId xmlns:p14="http://schemas.microsoft.com/office/powerpoint/2010/main" val="656925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3B0C0-1EC4-44BC-9AEB-D7118088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09 FINANCIALS AND UNIT ECONOMICS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32B51-1C6C-43E9-B4F2-E9EDD754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Three-year model placeholders for annual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B8D9E-15F0-4B40-B69C-C1DC030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Replace assumptions with actual pricing, conversion, retention, and cost data before sending.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9DB61-6D28-4ABD-B461-2E7F2D99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5143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1285875"/>
                <a:gridCol w="1285875"/>
                <a:gridCol w="1285875"/>
              </a:tblGrid>
              <a:tr h="444500">
                <a:tc>
                  <a:txBody>
                    <a:bodyPr/>
                    <a:lstStyle/>
                    <a:p>
                      <a:r>
                        <a:rPr/>
                        <a:t>Metric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Y1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Y2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Y3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/>
                        <a:t>Paid accounts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/>
                        <a:t>ARR / revenue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/>
                        <a:t>Gross margin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]%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/>
                        <a:t>OPEX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/>
                        <a:t>EBITDA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₹[ 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B473D-376D-4FD6-9738-46CDA0B4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4476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ABD7-B205-4ED2-AECB-8413C779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Illustrative revenue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74653-7571-45B8-839B-C4B98216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F175A-F191-45D7-B2B8-90868FD2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A"/>
                </a:solidFill>
              </a:defRPr>
            </a:pPr>
            <a:r>
              <a:rPr sz="1050" b="1">
                <a:solidFill>
                  <a:srgbClr val="18212A"/>
                </a:solidFill>
              </a:rPr>
              <a:t>₹12L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AE448-357D-4B3C-BCB8-878A618F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872"/>
                </a:solidFill>
              </a:defRPr>
            </a:pPr>
            <a:r>
              <a:rPr sz="1050" b="1">
                <a:solidFill>
                  <a:srgbClr val="5C6872"/>
                </a:solidFill>
              </a:rPr>
              <a:t>Y1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A5EEB-8BE8-436A-91C6-4A2C9F29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76650"/>
            <a:ext cx="5905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5D24D-61C7-434C-9C55-6F8CA3E0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A"/>
                </a:solidFill>
              </a:defRPr>
            </a:pPr>
            <a:r>
              <a:rPr sz="1050" b="1">
                <a:solidFill>
                  <a:srgbClr val="18212A"/>
                </a:solidFill>
              </a:rPr>
              <a:t>₹48L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CAA5B-404C-42B8-AB03-337A30C5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872"/>
                </a:solidFill>
              </a:defRPr>
            </a:pPr>
            <a:r>
              <a:rPr sz="1050" b="1">
                <a:solidFill>
                  <a:srgbClr val="5C6872"/>
                </a:solidFill>
              </a:rPr>
              <a:t>Y2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DD153-A801-439F-A7F8-1BDEB995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5905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D4DD2-A202-454F-B6A5-21533CE6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98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12A"/>
                </a:solidFill>
              </a:defRPr>
            </a:pPr>
            <a:r>
              <a:rPr sz="1050" b="1">
                <a:solidFill>
                  <a:srgbClr val="18212A"/>
                </a:solidFill>
              </a:rPr>
              <a:t>₹1.2Cr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0E5C1-F208-4957-B91C-FCF7FBA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972050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C6872"/>
                </a:solidFill>
              </a:defRPr>
            </a:pPr>
            <a:r>
              <a:rPr sz="1050" b="1">
                <a:solidFill>
                  <a:srgbClr val="5C6872"/>
                </a:solidFill>
              </a:rPr>
              <a:t>Y3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61E22-28BC-48CF-A693-6A69DE32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12A"/>
                </a:solidFill>
              </a:defRPr>
            </a:pPr>
            <a:r>
              <a:rPr sz="1275" b="1">
                <a:solidFill>
                  <a:srgbClr val="18212A"/>
                </a:solidFill>
              </a:rPr>
              <a:t>Unit economics to fill: revenue per account, onboarding cost, monthly support cost, AI cost per active user, CAC, payback period.</a:t>
            </a:r>
          </a:p>
        </p:txBody>
      </p:sp>
    </p:spTree>
    <p:extLst>
      <p:ext uri="{BB962C8B-B14F-4D97-AF65-F5344CB8AC3E}">
        <p14:creationId xmlns:p14="http://schemas.microsoft.com/office/powerpoint/2010/main" val="12357905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0344D-DA54-46EA-9987-12320FD1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10 FUNDING NEEDS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531ED-0751-414E-82F2-19B86D16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Raise amount, use of funds, runway, and milestones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08015-8136-4AA7-8734-438E3A0B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This slide is intentionally structured for quick replacement once your round target and valuation are final.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FB8EB-AA89-4B73-ADDE-0C661DBC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CEC24-DC98-40CF-9585-FA0920F6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3147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E5E21-1EB5-4D39-BB45-114DA102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73333"/>
                  </a:srgbClr>
                </a:solidFill>
              </a:defRPr>
            </a:pPr>
            <a:r>
              <a:rPr sz="1350" b="0">
                <a:solidFill>
                  <a:srgbClr val="FFFFFF">
                    <a:alpha val="73333"/>
                  </a:srgbClr>
                </a:solidFill>
              </a:rPr>
              <a:t>Seeking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813D6-C062-4FBB-8EAA-620B2426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2A12B"/>
                </a:solidFill>
              </a:defRPr>
            </a:pPr>
            <a:r>
              <a:rPr sz="3300" b="1">
                <a:solidFill>
                  <a:srgbClr val="F2A12B"/>
                </a:solidFill>
              </a:rPr>
              <a:t>₹[amount]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9C2EB-9DE6-4061-8AF0-3A46E4EA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27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for [runway] months at proposed valuation ₹[valuation].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35F1D-A186-4522-9FB0-DCBD9D7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2724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6BE17-26AC-4564-9352-ADE108C4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37C4D-27E1-4D42-B5EC-4AB72EFB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051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Product +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60B32-6CAE-4DA2-A571-11AC40C6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24200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54056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28DE0-D273-45C1-AAFA-AFD2358A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95550"/>
            <a:ext cx="2724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C9569-E306-472F-BE4E-4A1315C8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955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5BEAA-96EF-40D7-A37A-27738D71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051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Sales + onboarding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D7B6E-D5C0-4A94-AAB0-9B3D123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54056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30%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55BE7-18A1-4A3F-BEC5-DE4E3DC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2724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E22B2-7AFD-4F84-B3A1-C79BB98A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8B00B-4BE9-415B-B523-D88A3CB3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1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Customer success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F430DC-8604-4AFC-98A3-147FBC66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86250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54056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308A6-3183-48F2-B669-39D5E0B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57600"/>
            <a:ext cx="2724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625E7-25B1-44A1-8FFD-12BEAEFC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576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5"/>
          </a:solidFill>
          <a:ln xmlns:a="http://schemas.openxmlformats.org/drawingml/2006/main" w="0">
            <a:solidFill>
              <a:srgbClr val="E56B5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2E992-AC3E-40CD-9AA8-05BE91E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Cloud, legal, 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DCC1A-AC59-4B60-B8A3-0A967457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86250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54056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B551CF-1C73-4851-A0F1-929288D8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Milestones funded: [customers], ₹[revenue], [retention target], [new verticals], [follow-on capital plan].</a:t>
            </a:r>
          </a:p>
        </p:txBody>
      </p:sp>
    </p:spTree>
    <p:extLst>
      <p:ext uri="{BB962C8B-B14F-4D97-AF65-F5344CB8AC3E}">
        <p14:creationId xmlns:p14="http://schemas.microsoft.com/office/powerpoint/2010/main" val="12208960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0C314-0E4B-4390-980C-FA266F89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11 EQUITY AND FUNDRAISING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C89D0-896F-4F67-A80B-5927FAAE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A"/>
                </a:solidFill>
              </a:defRPr>
            </a:pPr>
            <a:r>
              <a:rPr sz="2850" b="1">
                <a:solidFill>
                  <a:srgbClr val="18212A"/>
                </a:solidFill>
              </a:rPr>
              <a:t>Cap table and past investment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654FD-DE68-47AE-8516-52DFDA0D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872"/>
                </a:solidFill>
              </a:defRPr>
            </a:pPr>
            <a:r>
              <a:rPr sz="1350" b="0">
                <a:solidFill>
                  <a:srgbClr val="5C6872"/>
                </a:solidFill>
              </a:rPr>
              <a:t>Startup India asks for current equity structure, money invested, and prior investors.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4E059-9198-4D56-97D0-2C9CE63B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04850" y="2419350"/>
          <a:ext xmlns:a="http://schemas.openxmlformats.org/drawingml/2006/main" cx="78105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952625"/>
                <a:gridCol w="1952625"/>
                <a:gridCol w="1952625"/>
              </a:tblGrid>
              <a:tr h="541020">
                <a:tc>
                  <a:txBody>
                    <a:bodyPr/>
                    <a:lstStyle/>
                    <a:p>
                      <a:r>
                        <a:rPr/>
                        <a:t>Shareholder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Role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Current 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Notes</a:t>
                      </a:r>
                    </a:p>
                  </a:txBody>
                  <a:tcPr marL="91440" marR="91440" marT="45720" marB="45720"/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/>
                        <a:t>[Founder name]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Founder / CEO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Sweat + capital invested ₹[ ]</a:t>
                      </a:r>
                    </a:p>
                  </a:txBody>
                  <a:tcPr marL="91440" marR="91440" marT="45720" marB="45720"/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/>
                        <a:t>[Co-founder name]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[Role]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[Notes]</a:t>
                      </a:r>
                    </a:p>
                  </a:txBody>
                  <a:tcPr marL="91440" marR="91440" marT="45720" marB="45720"/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/>
                        <a:t>ESOP pool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Future team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[Planned / created]</a:t>
                      </a:r>
                    </a:p>
                  </a:txBody>
                  <a:tcPr marL="91440" marR="91440" marT="45720" marB="45720"/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/>
                        <a:t>Investors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[Names]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[ ]%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/>
                        <a:t>Prior round ₹[ ] in [year]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3096F-C42C-45CE-AE75-279B5E2D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2000250" cy="20383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solidFill>
              <a:srgbClr val="FFF1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465A2-864F-4D6C-8FB8-D1B05973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A12B"/>
                </a:solidFill>
              </a:defRPr>
            </a:pPr>
            <a:r>
              <a:rPr sz="1500" b="1">
                <a:solidFill>
                  <a:srgbClr val="F2A12B"/>
                </a:solidFill>
              </a:rPr>
              <a:t>Also add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BA3AE-633F-4353-8688-E77D6085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12A"/>
                </a:solidFill>
              </a:defRPr>
            </a:pPr>
            <a:r>
              <a:rPr sz="1200" b="0">
                <a:solidFill>
                  <a:srgbClr val="18212A"/>
                </a:solidFill>
              </a:rPr>
              <a:t>Founder investment</a:t>
            </a:r>
          </a:p>
          <a:p xmlns:a="http://schemas.openxmlformats.org/drawingml/2006/main">
            <a:pPr algn="l">
              <a:defRPr sz="1200" b="0">
                <a:solidFill>
                  <a:srgbClr val="18212A"/>
                </a:solidFill>
              </a:defRPr>
            </a:pPr>
            <a:r>
              <a:rPr sz="1200" b="0">
                <a:solidFill>
                  <a:srgbClr val="18212A"/>
                </a:solidFill>
              </a:rPr>
              <a:t>Debt or grants</a:t>
            </a:r>
          </a:p>
          <a:p xmlns:a="http://schemas.openxmlformats.org/drawingml/2006/main">
            <a:pPr algn="l">
              <a:defRPr sz="1200" b="0">
                <a:solidFill>
                  <a:srgbClr val="18212A"/>
                </a:solidFill>
              </a:defRPr>
            </a:pPr>
            <a:r>
              <a:rPr sz="1200" b="0">
                <a:solidFill>
                  <a:srgbClr val="18212A"/>
                </a:solidFill>
              </a:rPr>
              <a:t>Committed co-investors</a:t>
            </a:r>
          </a:p>
          <a:p xmlns:a="http://schemas.openxmlformats.org/drawingml/2006/main">
            <a:pPr algn="l">
              <a:defRPr sz="1200" b="0">
                <a:solidFill>
                  <a:srgbClr val="18212A"/>
                </a:solidFill>
              </a:defRPr>
            </a:pPr>
            <a:r>
              <a:rPr sz="1200" b="0">
                <a:solidFill>
                  <a:srgbClr val="18212A"/>
                </a:solidFill>
              </a:rPr>
              <a:t>Any SAFEs or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1DAE2-A6B3-4E9F-AAA9-52015EBC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872"/>
                </a:solidFill>
              </a:defRPr>
            </a:pPr>
            <a:r>
              <a:rPr sz="1125" b="0">
                <a:solidFill>
                  <a:srgbClr val="5C6872"/>
                </a:solidFill>
              </a:rPr>
              <a:t>Keep this factual and current as of the date the deck is shared.</a:t>
            </a:r>
          </a:p>
        </p:txBody>
      </p:sp>
    </p:spTree>
    <p:extLst>
      <p:ext uri="{BB962C8B-B14F-4D97-AF65-F5344CB8AC3E}">
        <p14:creationId xmlns:p14="http://schemas.microsoft.com/office/powerpoint/2010/main" val="163256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57C9BC-3F29-48B1-A84A-E2DAF9E02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e16200e7841df"/>
          <a:stretch xmlns:a="http://schemas.openxmlformats.org/drawingml/2006/main"/>
        </p:blipFill>
        <p:spPr>
          <a:xfrm xmlns:a="http://schemas.openxmlformats.org/drawingml/2006/main">
            <a:off x="666750" y="5524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05924-759D-4095-8979-356BF0CC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66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Exit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35AA8-5E9E-4720-BD4B-3A641466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04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772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Build a valuable operating layer for businesses that want practical AI and everyday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063C2-EBDE-4C4C-9642-37BC7E27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3028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71CBF-432C-4E6C-8EA0-3E8642BF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2B"/>
          </a:solidFill>
          <a:ln xmlns:a="http://schemas.openxmlformats.org/drawingml/2006/main" w="0">
            <a:solidFill>
              <a:srgbClr val="F2A12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B52B1-E4EB-49F9-8EAC-6C5C21B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Strategic acquisition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C79C6-2942-47EA-8514-0F282E8E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Accounting, payments, ERP, CRM, commerce, or cloud platforms serving SMEs.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288B0-F938-441C-874A-6E4A8D90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3028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30401-48D0-4AE7-8F6E-D7432305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0"/>
          </a:solidFill>
          <a:ln xmlns:a="http://schemas.openxmlformats.org/drawingml/2006/main" w="0">
            <a:solidFill>
              <a:srgbClr val="0DA6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9C3D0-92A8-4B67-9050-5D1C6DF2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Vertical SaaS consolidation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55AEA-8111-4A1C-A3E7-C50B5042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Acquire or partner across retail, trading, interiors, services, and local commerce.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8525A-A8F7-4806-A1ED-C851ED49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3028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8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47566-B417-410D-953E-7BF906F0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7ACD7-D3DA-4AD0-AB75-AF54FEDF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A"/>
                </a:solidFill>
              </a:defRPr>
            </a:pPr>
            <a:r>
              <a:rPr sz="1500" b="1">
                <a:solidFill>
                  <a:srgbClr val="18212A"/>
                </a:solidFill>
              </a:rPr>
              <a:t>Long-term scale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3E0EA-2B18-482D-8195-FF94C0AD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C6872"/>
                </a:solidFill>
              </a:defRPr>
            </a:pPr>
            <a:r>
              <a:rPr sz="1163" b="0">
                <a:solidFill>
                  <a:srgbClr val="5C6872"/>
                </a:solidFill>
              </a:rPr>
              <a:t>Potential IPO path only after durable revenue, retention, and category leadership.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C0034-18E4-4E7E-9FC9-9744D6CE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>
                    <a:alpha val="84706"/>
                  </a:srgbClr>
                </a:solidFill>
              </a:defRPr>
            </a:pPr>
            <a:r>
              <a:rPr sz="1350" b="0">
                <a:solidFill>
                  <a:srgbClr val="FFFFFF">
                    <a:alpha val="84706"/>
                  </a:srgbClr>
                </a:solidFill>
              </a:rPr>
              <a:t>Next step: update placeholders with founder/team data, actual traction, round size, financial model, cap table, and contact details.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7F5B2-7F19-4668-BEBE-94F6FCD6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72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2A12B"/>
                </a:solidFill>
              </a:defRPr>
            </a:pPr>
            <a:r>
              <a:rPr sz="1350" b="1">
                <a:solidFill>
                  <a:srgbClr val="F2A12B"/>
                </a:solidFill>
              </a:rPr>
              <a:t>aivyapari.com</a:t>
            </a:r>
          </a:p>
        </p:txBody>
      </p:sp>
    </p:spTree>
    <p:extLst>
      <p:ext uri="{BB962C8B-B14F-4D97-AF65-F5344CB8AC3E}">
        <p14:creationId xmlns:p14="http://schemas.microsoft.com/office/powerpoint/2010/main" val="1107625990"/>
      </p:ext>
    </p:extLst>
  </p:cSld>
</p:sld>
</file>

<file path=ppt/theme/theme1.xml><?xml version="1.0" encoding="utf-8"?>
<a:theme xmlns:a="http://schemas.openxmlformats.org/drawingml/2006/main" name="AIVyapari">
  <a:themeElements>
    <a:clrScheme name="AIVyapari">
      <a:accent1>
        <a:srgbClr val="007C78"/>
      </a:accent1>
      <a:accent2>
        <a:srgbClr val="F2A12B"/>
      </a:accent2>
      <a:accent3>
        <a:srgbClr val="2D8A57"/>
      </a:accent3>
      <a:accent4>
        <a:srgbClr val="E56B55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IVyapari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2026-05-01T13:35:42.7000000Z</dcterms:created>
  <dcterms:modified xsi:type="dcterms:W3CDTF">2026-05-01T13:35:42.7000000Z</dcterms:modified>
</coreProperties>
</file>